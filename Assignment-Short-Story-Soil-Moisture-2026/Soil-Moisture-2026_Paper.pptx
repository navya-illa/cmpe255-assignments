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24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I" userId="0cb17caeb974bd79" providerId="LiveId" clId="{632F69C7-5762-4B0B-8F31-32B51C51D715}"/>
    <pc:docChg chg="undo custSel modSld">
      <pc:chgData name="Navya I" userId="0cb17caeb974bd79" providerId="LiveId" clId="{632F69C7-5762-4B0B-8F31-32B51C51D715}" dt="2026-10-11T06:05:23.301" v="39" actId="20577"/>
      <pc:docMkLst>
        <pc:docMk/>
      </pc:docMkLst>
      <pc:sldChg chg="modSp mod">
        <pc:chgData name="Navya I" userId="0cb17caeb974bd79" providerId="LiveId" clId="{632F69C7-5762-4B0B-8F31-32B51C51D715}" dt="2026-10-11T06:05:23.301" v="39" actId="20577"/>
        <pc:sldMkLst>
          <pc:docMk/>
          <pc:sldMk cId="2119384436" sldId="256"/>
        </pc:sldMkLst>
        <pc:spChg chg="mod">
          <ac:chgData name="Navya I" userId="0cb17caeb974bd79" providerId="LiveId" clId="{632F69C7-5762-4B0B-8F31-32B51C51D715}" dt="2026-10-11T06:04:00.543" v="32"/>
          <ac:spMkLst>
            <pc:docMk/>
            <pc:sldMk cId="2119384436" sldId="256"/>
            <ac:spMk id="4" creationId="{093CBA58-00F8-40A6-8EC0-9109FD56A11F}"/>
          </ac:spMkLst>
        </pc:spChg>
        <pc:spChg chg="mod">
          <ac:chgData name="Navya I" userId="0cb17caeb974bd79" providerId="LiveId" clId="{632F69C7-5762-4B0B-8F31-32B51C51D715}" dt="2026-10-11T06:05:23.301" v="39" actId="20577"/>
          <ac:spMkLst>
            <pc:docMk/>
            <pc:sldMk cId="2119384436" sldId="256"/>
            <ac:spMk id="5" creationId="{82A3D4FB-939E-4B5D-A210-503440F92115}"/>
          </ac:spMkLst>
        </pc:spChg>
        <pc:spChg chg="mod">
          <ac:chgData name="Navya I" userId="0cb17caeb974bd79" providerId="LiveId" clId="{632F69C7-5762-4B0B-8F31-32B51C51D715}" dt="2026-10-11T06:05:05.323" v="37" actId="1076"/>
          <ac:spMkLst>
            <pc:docMk/>
            <pc:sldMk cId="2119384436" sldId="256"/>
            <ac:spMk id="6" creationId="{64A28FC7-3988-48FE-AA89-606B4CFA094E}"/>
          </ac:spMkLst>
        </pc:spChg>
        <pc:spChg chg="mod">
          <ac:chgData name="Navya I" userId="0cb17caeb974bd79" providerId="LiveId" clId="{632F69C7-5762-4B0B-8F31-32B51C51D715}" dt="2026-10-11T06:05:08.298" v="38" actId="1076"/>
          <ac:spMkLst>
            <pc:docMk/>
            <pc:sldMk cId="2119384436" sldId="256"/>
            <ac:spMk id="7" creationId="{5C163C80-2040-4274-83F3-D82120CBBB3F}"/>
          </ac:spMkLst>
        </pc:spChg>
        <pc:spChg chg="mod">
          <ac:chgData name="Navya I" userId="0cb17caeb974bd79" providerId="LiveId" clId="{632F69C7-5762-4B0B-8F31-32B51C51D715}" dt="2026-10-11T06:04:56.736" v="35" actId="1076"/>
          <ac:spMkLst>
            <pc:docMk/>
            <pc:sldMk cId="2119384436" sldId="256"/>
            <ac:spMk id="10" creationId="{D1253F07-1D80-4EC0-A689-3CFC0611214D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paper: Tsimpidi et al. (2026), a survey of data-driven soil moisture regression and classification. Soil moisture matters for drought, floods, and irrigation, but it varies across space, time, and depth.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Soil moisture is a hydrological variable with direct agricultural value. The core difficulty is the observation gap: ground sensors are accurate but sparse, so models fuse them with satellites, weather, soil, and terrain.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properties make the problem hard: spatiotemporal variation, nonlinear interactions, multisource data at different scales, and limited ground truth. The formula is an illustration of the mapping, not an equation from the paper.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pipeline left to right: sources, preparation, features, model, output, validation. Inputs must be aligned in time, footprint, and depth before any model is trained.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Regression predicts a continuous value: point estimates, forecasts, multi-depth, gap filling, and downscaling. Classification assigns dry, moderate, or wet and suits drought and irrigation alerts. Metrics differ by task.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Random cross-validation can leak information between neighbors in space or time. Match the split to the deployment question: temporal holdout, spatial blocking, or leave-one-station-out.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Preview the five families, from statistical time series and geostatistics through classical machine learning and deep learning to probabilistic models.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Statistical and geostatistical models are interpretable and work with limited data, but they rest on assumptions. Note that the co-Kriging study mapped precipitation, using SMOS soil moisture as a helper variable.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Classical machine learning handles nonlinear, heterogeneous inputs. Highlight SMRFR as a global multilayer product and XGBR-GA as the best of four regressors in its study. The values come from different studies and are not a leaderboard.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 learning matches architecture to input structure: sequences, grids, spectra, or physical constraints. Transformers are competitive but not uniformly better than LSTMs.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Probabilistic models add uncertainty to the prediction. A point estimate says what value; a probabilistic estimate also says how reliable it is.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Table 1 maps each model to its input and output. Most entries are regression, few are classification. Cluster-ARIMA predicts soil respiration, not soil moisture.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central caution: studies differ in inputs, outputs, regions, depths, horizons, sensors, and validation, so the same metric can mean different things across papers.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practical workflow synthesized from the survey's guidance: define the claim, inventory the evidence, split to match deployment, start with a simple baseline, add complexity only for a known limitation, and report by region, depth, horizon, uncertainty, and failures.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survey states uncertainty quantification and benchmarking as future priorities. Data availability and interpretability limit real-world use, and physics-guided learning is a current trend.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takeaways: the target defines the model, validation defines credibility, and complexity must earn its place. Before trusting a score, check the target, split, units, and failure cases.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survey runs no experiments, so it contains no ablation studies of its own. These rows are baseline comparisons reported by the reviewed studies. PHYs-LSTM and GCCL come closest to adding a single ingredient.</a:t>
            </a:r>
          </a:p>
          <a:p/>
          <a:p>
            <a:r>
              <a:t>Source: Tsimpidi et al. (2026), arXiv:2606.18316</a:t>
            </a:r>
          </a:p>
          <a:p>
            <a:r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D78C76C-385D-446F-AEFB-69E4C0E94D5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FC23151-EE6F-41B9-A34B-8FD3FBE3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7F7E7BE-8D12-4454-8954-FEBCEB472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D688D810-E89A-48C5-BD08-FB6380EBF909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FE03E7FC-9DBF-419A-A0F1-BD696868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FC1DAE7-1E4A-4046-B8B1-FC4ACF85A9C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79350F0-648A-4CAA-9A33-F389293B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EDC52E7-6CB7-4E1A-BB1D-A98303B0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5F986C6A-471D-4BFF-9FA1-91E9711AF1D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0F2D00-A49E-4A6D-9BAB-6A97A83D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ED1CA70-B8B9-431B-A376-F4DF2B62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BBAD7B6-C741-4E28-AFC4-69F525C44B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3BCAECA-B809-439B-AC7B-EFF751773A0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420E16-E5D6-4D56-9D8A-EF6E6906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54CF188-A7B8-40DB-A882-E59E0166D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253F07-1D80-4EC0-A689-3CFC061121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EE9BC-2E49-499B-A83A-BA3C325F7F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998F12-6C8C-40B6-93A3-588B1EC09FB7}"/>
              </a:ext>
            </a:extLst>
          </p:cNvPr>
          <p:cNvSpPr>
            <a:spLocks noGrp="1"/>
          </p:cNvSpPr>
          <p:nvPr/>
        </p:nvSpPr>
        <p:spPr>
          <a:xfrm>
            <a:off x="781050" y="704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CMPE 255  |  SHORT STORY ASSIGNMENT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CBA58-00F8-40A6-8EC0-9109FD56A11F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57150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3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lang="en-US" sz="3300" b="1" i="0" dirty="0">
                <a:solidFill>
                  <a:srgbClr val="FBF7F0"/>
                </a:solidFill>
                <a:latin typeface="Aptos"/>
                <a:ea typeface="Aptos"/>
                <a:cs typeface="Aptos"/>
              </a:rPr>
              <a:t>A survey of data-driven soil-moisture regression and classification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3D4FB-939E-4B5D-A210-503440F92115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lang="en-US" sz="1575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Soil moisture is important for drought monitoring, flood forecasting, irrigation, agriculture, and water-resource management. It varies across location, time, soil depth, vegetation, and weather conditions. </a:t>
            </a:r>
            <a:endParaRPr sz="1575" b="0" i="0" dirty="0">
              <a:solidFill>
                <a:srgbClr val="F7EDE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28FC7-3988-48FE-AA89-606B4CFA094E}"/>
              </a:ext>
            </a:extLst>
          </p:cNvPr>
          <p:cNvSpPr>
            <a:spLocks noGrp="1"/>
          </p:cNvSpPr>
          <p:nvPr/>
        </p:nvSpPr>
        <p:spPr>
          <a:xfrm>
            <a:off x="781050" y="5591175"/>
            <a:ext cx="475488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 dirty="0">
                <a:solidFill>
                  <a:srgbClr val="E6C28B"/>
                </a:solidFill>
                <a:latin typeface="Aptos"/>
                <a:ea typeface="Aptos"/>
                <a:cs typeface="Aptos"/>
              </a:rPr>
              <a:t>N</a:t>
            </a:r>
            <a:r>
              <a:rPr lang="en-US" sz="1500" b="1" i="0" dirty="0">
                <a:solidFill>
                  <a:srgbClr val="E6C28B"/>
                </a:solidFill>
                <a:latin typeface="Aptos"/>
                <a:ea typeface="Aptos"/>
                <a:cs typeface="Aptos"/>
              </a:rPr>
              <a:t>ame: N</a:t>
            </a:r>
            <a:r>
              <a:rPr sz="1500" b="1" i="0" dirty="0">
                <a:solidFill>
                  <a:srgbClr val="E6C28B"/>
                </a:solidFill>
                <a:latin typeface="Aptos"/>
                <a:ea typeface="Aptos"/>
                <a:cs typeface="Aptos"/>
              </a:rPr>
              <a:t>avya Illa</a:t>
            </a:r>
            <a:endParaRPr lang="en-US" sz="1500" b="1" i="0" dirty="0">
              <a:solidFill>
                <a:srgbClr val="E6C28B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lang="en-US" sz="1500" b="1" dirty="0">
                <a:solidFill>
                  <a:srgbClr val="E6C28B"/>
                </a:solidFill>
                <a:latin typeface="Aptos"/>
                <a:ea typeface="Aptos"/>
                <a:cs typeface="Aptos"/>
              </a:rPr>
              <a:t>Student ID: 020780084</a:t>
            </a:r>
            <a:endParaRPr sz="1500" b="1" i="0" dirty="0">
              <a:solidFill>
                <a:srgbClr val="E6C2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163C80-2040-4274-83F3-D82120CBBB3F}"/>
              </a:ext>
            </a:extLst>
          </p:cNvPr>
          <p:cNvSpPr>
            <a:spLocks noGrp="1"/>
          </p:cNvSpPr>
          <p:nvPr/>
        </p:nvSpPr>
        <p:spPr>
          <a:xfrm>
            <a:off x="800100" y="6129337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05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Based on </a:t>
            </a:r>
            <a:r>
              <a:rPr sz="1050" b="0" i="0" dirty="0" err="1">
                <a:solidFill>
                  <a:srgbClr val="F7EDE2"/>
                </a:solidFill>
                <a:latin typeface="Aptos"/>
                <a:ea typeface="Aptos"/>
                <a:cs typeface="Aptos"/>
              </a:rPr>
              <a:t>Tsimpidi</a:t>
            </a:r>
            <a:r>
              <a:rPr sz="105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 et al., arXiv:2606.18316,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A5279-FB2A-443B-BA3A-9FE785C0426E}"/>
              </a:ext>
            </a:extLst>
          </p:cNvPr>
          <p:cNvSpPr>
            <a:spLocks noGrp="1"/>
          </p:cNvSpPr>
          <p:nvPr/>
        </p:nvSpPr>
        <p:spPr>
          <a:xfrm>
            <a:off x="7086600" y="5734050"/>
            <a:ext cx="426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9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90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Spatial variation over a grass-covered field in </a:t>
            </a:r>
            <a:r>
              <a:rPr sz="900" b="0" i="0" dirty="0" err="1">
                <a:solidFill>
                  <a:srgbClr val="F7EDE2"/>
                </a:solidFill>
                <a:latin typeface="Aptos"/>
                <a:ea typeface="Aptos"/>
                <a:cs typeface="Aptos"/>
              </a:rPr>
              <a:t>Luleå</a:t>
            </a:r>
            <a:r>
              <a:rPr sz="90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, Sweden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61AEF9-3BFF-F6C2-E4CC-AB405DBBD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70" y="1428540"/>
            <a:ext cx="5131064" cy="4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8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9D59F37-77DE-43F5-8F68-77A2CDBCCB5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01 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447F47-C5A4-4F05-ABB9-4EEB3AAC9FB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Why soil moisture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4A270-21EA-4DBC-90EC-DDDB8EA1A3C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B3982-8858-403F-A493-74484198919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target changes across both space and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D2D22-65FF-449F-BAE9-6AAD7CACF11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96C73-DC1A-4788-A08F-3ADD8DCC21A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6C96D-FBCC-466B-BBB7-EC159FD6E01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A8367-E7AB-47CC-8AC7-2A024FD44F7F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AE2EF-1BCD-4693-B5A4-D31B2B6640A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76200" cy="16002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D9D5AB-57BD-46EA-BB1B-665A53AFCF40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Hydrology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C2384-5D77-4489-825B-2B7CC799D7E2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Soil moisture supports drought forecasting and flood forecasting. It describes how much water remains available in the ground.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9C4E0A-C47A-43FA-A06A-7D51E11E3300}"/>
              </a:ext>
            </a:extLst>
          </p:cNvPr>
          <p:cNvSpPr>
            <a:spLocks noGrp="1"/>
          </p:cNvSpPr>
          <p:nvPr/>
        </p:nvSpPr>
        <p:spPr>
          <a:xfrm>
            <a:off x="41910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25CBC-C310-43E5-9BD5-CF559BF3AD28}"/>
              </a:ext>
            </a:extLst>
          </p:cNvPr>
          <p:cNvSpPr>
            <a:spLocks noGrp="1"/>
          </p:cNvSpPr>
          <p:nvPr/>
        </p:nvSpPr>
        <p:spPr>
          <a:xfrm>
            <a:off x="4191000" y="2019300"/>
            <a:ext cx="76200" cy="160020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2EA5C-DF36-475E-860F-F9EB7696D446}"/>
              </a:ext>
            </a:extLst>
          </p:cNvPr>
          <p:cNvSpPr>
            <a:spLocks noGrp="1"/>
          </p:cNvSpPr>
          <p:nvPr/>
        </p:nvSpPr>
        <p:spPr>
          <a:xfrm>
            <a:off x="44196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1BCA65-282F-47DA-AEC7-9A9B2FE21B79}"/>
              </a:ext>
            </a:extLst>
          </p:cNvPr>
          <p:cNvSpPr>
            <a:spLocks noGrp="1"/>
          </p:cNvSpPr>
          <p:nvPr/>
        </p:nvSpPr>
        <p:spPr>
          <a:xfrm>
            <a:off x="44196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Irrigation and crop-management decisions depend on the water available near roots, not just rainfall totals.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68A9E4-8547-4B36-8AE1-72C5E57D46B2}"/>
              </a:ext>
            </a:extLst>
          </p:cNvPr>
          <p:cNvSpPr>
            <a:spLocks noGrp="1"/>
          </p:cNvSpPr>
          <p:nvPr/>
        </p:nvSpPr>
        <p:spPr>
          <a:xfrm>
            <a:off x="76962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791A9C-EC8F-4787-B740-0A1BDE5D12D0}"/>
              </a:ext>
            </a:extLst>
          </p:cNvPr>
          <p:cNvSpPr>
            <a:spLocks noGrp="1"/>
          </p:cNvSpPr>
          <p:nvPr/>
        </p:nvSpPr>
        <p:spPr>
          <a:xfrm>
            <a:off x="7696200" y="2019300"/>
            <a:ext cx="76200" cy="16002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8CF615-4227-4B0E-A7D4-AE88F83988B6}"/>
              </a:ext>
            </a:extLst>
          </p:cNvPr>
          <p:cNvSpPr>
            <a:spLocks noGrp="1"/>
          </p:cNvSpPr>
          <p:nvPr/>
        </p:nvSpPr>
        <p:spPr>
          <a:xfrm>
            <a:off x="79248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4F547-36E6-4B97-9C06-996CAB6E60C3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 few field sensors cannot cover every location, depth, season, and weather condition.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8A94C2-F43C-4294-A412-1C9543EE87E7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248900" cy="1657350"/>
          </a:xfrm>
          <a:prstGeom prst="roundRect">
            <a:avLst>
              <a:gd name="adj" fmla="val 4598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516987-B8AA-4128-9F50-3F8653774D83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The observation gap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1B5F22-3B4D-4058-82EC-458B2D2C33EE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Ground sensors provide high-value local measurements, but they are sparse across fields, depths, and seasons.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BBB4B-54E7-4BD2-9736-CB83A05D2D6F}"/>
              </a:ext>
            </a:extLst>
          </p:cNvPr>
          <p:cNvSpPr>
            <a:spLocks noGrp="1"/>
          </p:cNvSpPr>
          <p:nvPr/>
        </p:nvSpPr>
        <p:spPr>
          <a:xfrm>
            <a:off x="5524500" y="4324350"/>
            <a:ext cx="19050" cy="1066800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E5FFA6-BAF8-44CA-BF26-280B6AB9E649}"/>
              </a:ext>
            </a:extLst>
          </p:cNvPr>
          <p:cNvSpPr>
            <a:spLocks noGrp="1"/>
          </p:cNvSpPr>
          <p:nvPr/>
        </p:nvSpPr>
        <p:spPr>
          <a:xfrm>
            <a:off x="6000750" y="4305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The modeling response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57C37D-9DF0-497A-A8EE-4A80267288DB}"/>
              </a:ext>
            </a:extLst>
          </p:cNvPr>
          <p:cNvSpPr>
            <a:spLocks noGrp="1"/>
          </p:cNvSpPr>
          <p:nvPr/>
        </p:nvSpPr>
        <p:spPr>
          <a:xfrm>
            <a:off x="6000750" y="4686300"/>
            <a:ext cx="4362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Fuse limited ground truth with remote sensing, weather, soil, terrain, and recent history to estimate unobserved conditions.</a:t>
            </a:r>
          </a:p>
        </p:txBody>
      </p:sp>
    </p:spTree>
    <p:extLst>
      <p:ext uri="{BB962C8B-B14F-4D97-AF65-F5344CB8AC3E}">
        <p14:creationId xmlns:p14="http://schemas.microsoft.com/office/powerpoint/2010/main" val="18717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B27F514-1A0B-4908-99AF-A1108775659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02  PROBLEM FORMULATION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FB349-0B48-4A3B-A080-B1BC66EC8D9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The modeling challenge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6F961-61A5-45BD-93C0-DEC708384C03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C9A3B-D571-4E13-BB4D-4FC23E5C02B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Four properties determine what the model can learn.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6673C-C781-404D-B583-F9FB3973017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4F7FE-EB17-4BFE-9A00-3FEB42307B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arXiv:2606.18316. The formulation is illustrative, not from the paper.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5B3995-0D38-4362-A906-96AB08D7D4A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23724F-624D-43A2-9C1B-A5A14DCA39D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EC69E-EACA-48EB-9C79-F1135992048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476500" cy="762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EE2CA-2D4C-42FD-9085-EAA9C9D37F4D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Spatiotemporal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0566D2-E6F9-4B34-8A87-D58299F48ECC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Location, depth, season, and recent history all matter.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F86E77-8323-4AA7-8CBE-AC826B3F596F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94E16-D533-40EE-83A5-1F29E5FBE04B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476500" cy="7620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16926-9468-4782-88AE-F3B4D4542311}"/>
              </a:ext>
            </a:extLst>
          </p:cNvPr>
          <p:cNvSpPr>
            <a:spLocks noGrp="1"/>
          </p:cNvSpPr>
          <p:nvPr/>
        </p:nvSpPr>
        <p:spPr>
          <a:xfrm>
            <a:off x="35623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Nonlinear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9CBDDC-963A-4B5E-8AE9-B037C9202475}"/>
              </a:ext>
            </a:extLst>
          </p:cNvPr>
          <p:cNvSpPr>
            <a:spLocks noGrp="1"/>
          </p:cNvSpPr>
          <p:nvPr/>
        </p:nvSpPr>
        <p:spPr>
          <a:xfrm>
            <a:off x="35623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Climate, soil, vegetation, and terrain interact.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A22539-DF8C-4FAC-9BBF-A03B5A0D8360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61D9CB-1794-468A-B809-DE49E2C07016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476500" cy="762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14DFF-03AD-4443-B45C-9D7E13CDA01F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Multisource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7FA64-6BAF-45F0-B1C0-0954A23CF1A8}"/>
              </a:ext>
            </a:extLst>
          </p:cNvPr>
          <p:cNvSpPr>
            <a:spLocks noGrp="1"/>
          </p:cNvSpPr>
          <p:nvPr/>
        </p:nvSpPr>
        <p:spPr>
          <a:xfrm>
            <a:off x="62674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Sensors, satellites, reanalysis, and maps have different scales.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0CF3CEA-93B6-4761-96D8-6D65FAEACC00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99F43-4BE3-4AB8-9D14-DBC5A15DFE2C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476500" cy="7620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6C5E27-D718-4164-99FE-5DF59E9F0761}"/>
              </a:ext>
            </a:extLst>
          </p:cNvPr>
          <p:cNvSpPr>
            <a:spLocks noGrp="1"/>
          </p:cNvSpPr>
          <p:nvPr/>
        </p:nvSpPr>
        <p:spPr>
          <a:xfrm>
            <a:off x="89725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Data-limited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14FB54-9049-4F57-BAF8-E164A9B8EC36}"/>
              </a:ext>
            </a:extLst>
          </p:cNvPr>
          <p:cNvSpPr>
            <a:spLocks noGrp="1"/>
          </p:cNvSpPr>
          <p:nvPr/>
        </p:nvSpPr>
        <p:spPr>
          <a:xfrm>
            <a:off x="89725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Ground observations are sparse and records are often incomplete.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757A8E-51A6-43D9-975C-4BF68AB7605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248900" cy="1104900"/>
          </a:xfrm>
          <a:prstGeom prst="roundRect">
            <a:avLst>
              <a:gd name="adj" fmla="val 6897"/>
            </a:avLst>
          </a:prstGeom>
          <a:solidFill>
            <a:srgbClr val="4A2C2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0D174-0639-4960-9148-E3D4AF2C2737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An illustrative formulation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43F7B2-7ACD-4F7B-A5A6-6C34F0F4A0EF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967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ŷ(s,t,d) = fθ(Xhistory, Xweather, Xsoil, Xterrain, Xremote)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BEA78-68F0-4300-95F0-65F2620631B8}"/>
              </a:ext>
            </a:extLst>
          </p:cNvPr>
          <p:cNvSpPr>
            <a:spLocks noGrp="1"/>
          </p:cNvSpPr>
          <p:nvPr/>
        </p:nvSpPr>
        <p:spPr>
          <a:xfrm>
            <a:off x="990600" y="5505450"/>
            <a:ext cx="967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The target location s, time t, and depth d determine what the prediction means.</a:t>
            </a:r>
          </a:p>
        </p:txBody>
      </p:sp>
    </p:spTree>
    <p:extLst>
      <p:ext uri="{BB962C8B-B14F-4D97-AF65-F5344CB8AC3E}">
        <p14:creationId xmlns:p14="http://schemas.microsoft.com/office/powerpoint/2010/main" val="183773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49A6389-E8B3-4392-9F52-04A77D9F2EB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03 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CF2D8-021E-4EA9-9CFB-A0817585A01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sources and feature construction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38C01-9FD9-4C2C-B7DF-B33313BBDEA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7B9D2-C463-4A0C-94CC-FDA7E5C401B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model only sees the evidence we align for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6540A-7C65-4ED9-BDBF-E431877B3F4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FA2E-45CB-4DA3-9FE7-6A4BF03FEBC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B5FD0-001F-4919-97FD-FB5E5D2524A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54" name="Table 53"/>
          <p:cNvGraphicFramePr/>
          <p:nvPr/>
        </p:nvGraphicFramePr>
        <p:xfrm>
          <a:off x="685800" y="1962150"/>
          <a:ext cx="4953000" cy="3510915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family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Examples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In-situ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ISMN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Ground-truth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Passive microwave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SMAP, SMOS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Large-area moisture observations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Radar and optical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Sentinel-1 SAR, Sentinel-2, MODIS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Backscatter and vegetation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Reanalysis and maps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ERA5-Land, DEMs, SoilGrids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Weather, terrain, and soil context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Environmental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Precipitation, temperature, solar radiation, antecedent soil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Drivers and memory of moisture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6895B43-BDA7-4AC3-B41E-4AE9F9BEDBC6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Paper pipeline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1281B3-AF2F-4B03-A3DA-B5FA3C2B4041}"/>
              </a:ext>
            </a:extLst>
          </p:cNvPr>
          <p:cNvSpPr>
            <a:spLocks noGrp="1"/>
          </p:cNvSpPr>
          <p:nvPr/>
        </p:nvSpPr>
        <p:spPr>
          <a:xfrm>
            <a:off x="60198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21D68E-A3D9-407A-8FDE-50BEDC341D24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323850" cy="3238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D4D234-4246-44B4-8975-3CCF7E369774}"/>
              </a:ext>
            </a:extLst>
          </p:cNvPr>
          <p:cNvSpPr>
            <a:spLocks noGrp="1"/>
          </p:cNvSpPr>
          <p:nvPr/>
        </p:nvSpPr>
        <p:spPr>
          <a:xfrm>
            <a:off x="61531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50E1B-2102-45BB-AEA1-A0D895065425}"/>
              </a:ext>
            </a:extLst>
          </p:cNvPr>
          <p:cNvSpPr>
            <a:spLocks noGrp="1"/>
          </p:cNvSpPr>
          <p:nvPr/>
        </p:nvSpPr>
        <p:spPr>
          <a:xfrm>
            <a:off x="65532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A4849D-F5ED-4388-BCC2-FFF885B9B13E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ISMN, satellites, reanalysis, maps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3D8776-D7A5-4240-80FC-446F8B8541B9}"/>
              </a:ext>
            </a:extLst>
          </p:cNvPr>
          <p:cNvSpPr>
            <a:spLocks noGrp="1"/>
          </p:cNvSpPr>
          <p:nvPr/>
        </p:nvSpPr>
        <p:spPr>
          <a:xfrm>
            <a:off x="76962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7EDE2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02FF51-29CB-4E28-9270-A307AC3373A4}"/>
              </a:ext>
            </a:extLst>
          </p:cNvPr>
          <p:cNvSpPr>
            <a:spLocks noGrp="1"/>
          </p:cNvSpPr>
          <p:nvPr/>
        </p:nvSpPr>
        <p:spPr>
          <a:xfrm>
            <a:off x="7829550" y="2571750"/>
            <a:ext cx="323850" cy="323850"/>
          </a:xfrm>
          <a:prstGeom prst="ellipse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FBCE-EA03-4578-AAEF-94DD29A89951}"/>
              </a:ext>
            </a:extLst>
          </p:cNvPr>
          <p:cNvSpPr>
            <a:spLocks noGrp="1"/>
          </p:cNvSpPr>
          <p:nvPr/>
        </p:nvSpPr>
        <p:spPr>
          <a:xfrm>
            <a:off x="78295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1A8CB3-A496-4309-85A5-951636AC282E}"/>
              </a:ext>
            </a:extLst>
          </p:cNvPr>
          <p:cNvSpPr>
            <a:spLocks noGrp="1"/>
          </p:cNvSpPr>
          <p:nvPr/>
        </p:nvSpPr>
        <p:spPr>
          <a:xfrm>
            <a:off x="82296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prep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3E88A8-C290-4A87-85ED-23A8A3D43684}"/>
              </a:ext>
            </a:extLst>
          </p:cNvPr>
          <p:cNvSpPr>
            <a:spLocks noGrp="1"/>
          </p:cNvSpPr>
          <p:nvPr/>
        </p:nvSpPr>
        <p:spPr>
          <a:xfrm>
            <a:off x="78295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Quality control, resampling, missing data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95BA73-F7AF-47CE-9D0D-FC2C559DE1A0}"/>
              </a:ext>
            </a:extLst>
          </p:cNvPr>
          <p:cNvSpPr>
            <a:spLocks noGrp="1"/>
          </p:cNvSpPr>
          <p:nvPr/>
        </p:nvSpPr>
        <p:spPr>
          <a:xfrm>
            <a:off x="93726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63AC16-BD49-4286-A8F6-A94120546553}"/>
              </a:ext>
            </a:extLst>
          </p:cNvPr>
          <p:cNvSpPr>
            <a:spLocks noGrp="1"/>
          </p:cNvSpPr>
          <p:nvPr/>
        </p:nvSpPr>
        <p:spPr>
          <a:xfrm>
            <a:off x="9505950" y="2571750"/>
            <a:ext cx="323850" cy="323850"/>
          </a:xfrm>
          <a:prstGeom prst="ellipse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67257C-E6E0-4F14-85FF-EFDA33FCF560}"/>
              </a:ext>
            </a:extLst>
          </p:cNvPr>
          <p:cNvSpPr>
            <a:spLocks noGrp="1"/>
          </p:cNvSpPr>
          <p:nvPr/>
        </p:nvSpPr>
        <p:spPr>
          <a:xfrm>
            <a:off x="95059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62A1FF-A72C-4A67-9CED-1318FD76B0DA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49C449-FCB5-453B-9BA1-10282E53A3FA}"/>
              </a:ext>
            </a:extLst>
          </p:cNvPr>
          <p:cNvSpPr>
            <a:spLocks noGrp="1"/>
          </p:cNvSpPr>
          <p:nvPr/>
        </p:nvSpPr>
        <p:spPr>
          <a:xfrm>
            <a:off x="95059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Weather, vegetation, soil, terrain, history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9D7DCF-E4D4-44A5-95F8-B2B04261CDAA}"/>
              </a:ext>
            </a:extLst>
          </p:cNvPr>
          <p:cNvSpPr>
            <a:spLocks noGrp="1"/>
          </p:cNvSpPr>
          <p:nvPr/>
        </p:nvSpPr>
        <p:spPr>
          <a:xfrm>
            <a:off x="60198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4316509-DF7F-40C1-BEAE-74E043891A7E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323850" cy="323850"/>
          </a:xfrm>
          <a:prstGeom prst="ellipse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BE7B72-3711-4D0E-81DE-6109F16D368E}"/>
              </a:ext>
            </a:extLst>
          </p:cNvPr>
          <p:cNvSpPr>
            <a:spLocks noGrp="1"/>
          </p:cNvSpPr>
          <p:nvPr/>
        </p:nvSpPr>
        <p:spPr>
          <a:xfrm>
            <a:off x="61531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47338-3899-4A68-9BE8-ED3F0628BAFF}"/>
              </a:ext>
            </a:extLst>
          </p:cNvPr>
          <p:cNvSpPr>
            <a:spLocks noGrp="1"/>
          </p:cNvSpPr>
          <p:nvPr/>
        </p:nvSpPr>
        <p:spPr>
          <a:xfrm>
            <a:off x="65532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Model family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7060D8-9778-47FF-8F2C-B63EF73D8E08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Time series, spatial, ML, DL, Bayesian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BFB480-A7EE-4DFA-9A31-3E0833D8E461}"/>
              </a:ext>
            </a:extLst>
          </p:cNvPr>
          <p:cNvSpPr>
            <a:spLocks noGrp="1"/>
          </p:cNvSpPr>
          <p:nvPr/>
        </p:nvSpPr>
        <p:spPr>
          <a:xfrm>
            <a:off x="76962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EEECEC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41EC96-CBD1-47A1-8674-B6CDBDC90968}"/>
              </a:ext>
            </a:extLst>
          </p:cNvPr>
          <p:cNvSpPr>
            <a:spLocks noGrp="1"/>
          </p:cNvSpPr>
          <p:nvPr/>
        </p:nvSpPr>
        <p:spPr>
          <a:xfrm>
            <a:off x="7829550" y="4057650"/>
            <a:ext cx="323850" cy="323850"/>
          </a:xfrm>
          <a:prstGeom prst="ellipse">
            <a:avLst/>
          </a:prstGeom>
          <a:solidFill>
            <a:srgbClr val="6B5A4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3255C3-847A-4FAE-A2E0-DE01993A7A03}"/>
              </a:ext>
            </a:extLst>
          </p:cNvPr>
          <p:cNvSpPr>
            <a:spLocks noGrp="1"/>
          </p:cNvSpPr>
          <p:nvPr/>
        </p:nvSpPr>
        <p:spPr>
          <a:xfrm>
            <a:off x="78295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F13BD5-D5E1-4506-8FD2-50D5B85640E5}"/>
              </a:ext>
            </a:extLst>
          </p:cNvPr>
          <p:cNvSpPr>
            <a:spLocks noGrp="1"/>
          </p:cNvSpPr>
          <p:nvPr/>
        </p:nvSpPr>
        <p:spPr>
          <a:xfrm>
            <a:off x="82296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B8EE96-D5B0-4D16-9E0D-BF86CFF2D804}"/>
              </a:ext>
            </a:extLst>
          </p:cNvPr>
          <p:cNvSpPr>
            <a:spLocks noGrp="1"/>
          </p:cNvSpPr>
          <p:nvPr/>
        </p:nvSpPr>
        <p:spPr>
          <a:xfrm>
            <a:off x="78295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Continuous estimate or moisture class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9933E76-7305-40DA-9191-879B6350DB89}"/>
              </a:ext>
            </a:extLst>
          </p:cNvPr>
          <p:cNvSpPr>
            <a:spLocks noGrp="1"/>
          </p:cNvSpPr>
          <p:nvPr/>
        </p:nvSpPr>
        <p:spPr>
          <a:xfrm>
            <a:off x="93726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867E841-18B3-43E3-89C8-33EE81739C84}"/>
              </a:ext>
            </a:extLst>
          </p:cNvPr>
          <p:cNvSpPr>
            <a:spLocks noGrp="1"/>
          </p:cNvSpPr>
          <p:nvPr/>
        </p:nvSpPr>
        <p:spPr>
          <a:xfrm>
            <a:off x="9505950" y="4057650"/>
            <a:ext cx="323850" cy="323850"/>
          </a:xfrm>
          <a:prstGeom prst="ellipse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B74BBC-EF0F-4025-AB6A-9B1E6BE9EE1A}"/>
              </a:ext>
            </a:extLst>
          </p:cNvPr>
          <p:cNvSpPr>
            <a:spLocks noGrp="1"/>
          </p:cNvSpPr>
          <p:nvPr/>
        </p:nvSpPr>
        <p:spPr>
          <a:xfrm>
            <a:off x="95059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70AA3-0AFC-4B98-B0E3-3E638746D01D}"/>
              </a:ext>
            </a:extLst>
          </p:cNvPr>
          <p:cNvSpPr>
            <a:spLocks noGrp="1"/>
          </p:cNvSpPr>
          <p:nvPr/>
        </p:nvSpPr>
        <p:spPr>
          <a:xfrm>
            <a:off x="99060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94BB3A-0D9A-4DD5-983F-94ABB7EABA2D}"/>
              </a:ext>
            </a:extLst>
          </p:cNvPr>
          <p:cNvSpPr>
            <a:spLocks noGrp="1"/>
          </p:cNvSpPr>
          <p:nvPr/>
        </p:nvSpPr>
        <p:spPr>
          <a:xfrm>
            <a:off x="95059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Metrics and deployment-shaped split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B000AA-4036-4CB8-9150-8AA4A99C0261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466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Practical alignment checks before training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F817DE6-D413-4FC9-AE13-D194B638829F}"/>
              </a:ext>
            </a:extLst>
          </p:cNvPr>
          <p:cNvSpPr>
            <a:spLocks noGrp="1"/>
          </p:cNvSpPr>
          <p:nvPr/>
        </p:nvSpPr>
        <p:spPr>
          <a:xfrm>
            <a:off x="6191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F3E4D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D1194-55CD-49A5-BD7D-1DC4AA66F400}"/>
              </a:ext>
            </a:extLst>
          </p:cNvPr>
          <p:cNvSpPr>
            <a:spLocks noGrp="1"/>
          </p:cNvSpPr>
          <p:nvPr/>
        </p:nvSpPr>
        <p:spPr>
          <a:xfrm>
            <a:off x="6286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E63A8AF-0FDC-4CE6-AB3C-69AAEE386966}"/>
              </a:ext>
            </a:extLst>
          </p:cNvPr>
          <p:cNvSpPr>
            <a:spLocks noGrp="1"/>
          </p:cNvSpPr>
          <p:nvPr/>
        </p:nvSpPr>
        <p:spPr>
          <a:xfrm>
            <a:off x="7715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D9E7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EB3EB1-1F5E-4E29-A5A8-4A55657A002A}"/>
              </a:ext>
            </a:extLst>
          </p:cNvPr>
          <p:cNvSpPr>
            <a:spLocks noGrp="1"/>
          </p:cNvSpPr>
          <p:nvPr/>
        </p:nvSpPr>
        <p:spPr>
          <a:xfrm>
            <a:off x="7810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footprint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60E61B-DFBE-4C65-AF7C-0147C82C1A75}"/>
              </a:ext>
            </a:extLst>
          </p:cNvPr>
          <p:cNvSpPr>
            <a:spLocks noGrp="1"/>
          </p:cNvSpPr>
          <p:nvPr/>
        </p:nvSpPr>
        <p:spPr>
          <a:xfrm>
            <a:off x="9239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1EBD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CAAA36-E527-442B-AEB4-48EE963BF9BA}"/>
              </a:ext>
            </a:extLst>
          </p:cNvPr>
          <p:cNvSpPr>
            <a:spLocks noGrp="1"/>
          </p:cNvSpPr>
          <p:nvPr/>
        </p:nvSpPr>
        <p:spPr>
          <a:xfrm>
            <a:off x="9334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142682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74A9FA-8126-4076-BBAF-7F0B22B1C0A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04  TARGETS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0865F-2E16-4342-8094-8810E50BCC8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Two prediction targets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B4F592-CD3A-4F20-97AC-D9F451476B75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B8C7B8-5B42-499D-9296-E2D7DBC8C52C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Continuous estimates and moisture classes answer different operational questions.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4F7C0-2E00-4E81-935C-0A9FFDD267B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DFA79-F6F8-42BC-8E82-846AF10BDD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E70AE-915E-4955-9645-B61A69C0D67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0CCA88-60F7-4588-BB5E-3B3A306CDC1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010150" cy="3676650"/>
          </a:xfrm>
          <a:prstGeom prst="roundRect">
            <a:avLst>
              <a:gd name="adj" fmla="val 2073"/>
            </a:avLst>
          </a:prstGeom>
          <a:solidFill>
            <a:srgbClr val="D9E7EA"/>
          </a:solidFill>
          <a:ln w="9525">
            <a:solidFill>
              <a:srgbClr val="5E8191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9BBD9-B436-4758-ADF5-E10D1A5B4777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C7DEA1-E6A5-455F-8EF4-628B82A7F6E5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Continuous soil-moisture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00E7C-E63C-4732-B5BC-4A774D83E4BD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4000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Point estimation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 forecasting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Multi-depth prediction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Gap filling and spatial downscaling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6E36F-7C26-4806-B8AD-7A95A7FAFF20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RMSE keeps the target units; R² summarizes explained variance. MAE, ubRMSE, and KGE expose different error behavior.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094C4E-9040-4351-8523-834737D69053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40005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BF16B3-B05E-4DAF-8109-3826BD13F325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R²  RMSE  MAE  ubRMSE  KGE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785476-FFEE-459B-A4A2-DE42633B3C3C}"/>
              </a:ext>
            </a:extLst>
          </p:cNvPr>
          <p:cNvSpPr>
            <a:spLocks noGrp="1"/>
          </p:cNvSpPr>
          <p:nvPr/>
        </p:nvSpPr>
        <p:spPr>
          <a:xfrm>
            <a:off x="5962650" y="2000250"/>
            <a:ext cx="5010150" cy="3676650"/>
          </a:xfrm>
          <a:prstGeom prst="roundRect">
            <a:avLst>
              <a:gd name="adj" fmla="val 2073"/>
            </a:avLst>
          </a:prstGeom>
          <a:solidFill>
            <a:srgbClr val="E1EBDD"/>
          </a:solidFill>
          <a:ln w="9525">
            <a:solidFill>
              <a:srgbClr val="90A78B"/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D3E2DF-9562-4EE4-A2CD-C420D8418448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7B6794-EE3E-453A-94CC-24DBB616A97E}"/>
              </a:ext>
            </a:extLst>
          </p:cNvPr>
          <p:cNvSpPr>
            <a:spLocks noGrp="1"/>
          </p:cNvSpPr>
          <p:nvPr/>
        </p:nvSpPr>
        <p:spPr>
          <a:xfrm>
            <a:off x="6229350" y="2724150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Discrete state such as dry, moderate, or wet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DC0881-80AC-48FE-8617-D18335F5086C}"/>
              </a:ext>
            </a:extLst>
          </p:cNvPr>
          <p:cNvSpPr>
            <a:spLocks noGrp="1"/>
          </p:cNvSpPr>
          <p:nvPr/>
        </p:nvSpPr>
        <p:spPr>
          <a:xfrm>
            <a:off x="6229350" y="3505200"/>
            <a:ext cx="4000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Drought monitoring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Irrigation decision support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Interpretable operational alerts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8A1E21-62B9-417B-BF1E-C247F2E169AB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F1 balances precision and recall; AUC summarizes ranking across thresholds. Class definitions must be reported with the score.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21E60C-0FB4-4DD3-BE73-10FA041DDBC4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4191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CEAB16-FAA6-4742-8500-3DEC5FA0D5FE}"/>
              </a:ext>
            </a:extLst>
          </p:cNvPr>
          <p:cNvSpPr>
            <a:spLocks noGrp="1"/>
          </p:cNvSpPr>
          <p:nvPr/>
        </p:nvSpPr>
        <p:spPr>
          <a:xfrm>
            <a:off x="6324600" y="52863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Accuracy  F1  Kappa  Precision  Recall  AUC</a:t>
            </a:r>
          </a:p>
        </p:txBody>
      </p:sp>
    </p:spTree>
    <p:extLst>
      <p:ext uri="{BB962C8B-B14F-4D97-AF65-F5344CB8AC3E}">
        <p14:creationId xmlns:p14="http://schemas.microsoft.com/office/powerpoint/2010/main" val="134863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2515F2-631F-4CED-A935-223C7E05B36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05 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F4A15A-4B78-483A-B2FB-6A21E2FF6ED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 must match 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2D63E-48B5-4174-8893-3EEDDB9228B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4ACD4-4673-4A6D-8914-8C24D4AE97E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split is part of the model claim.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C31BD7-1FC1-4F10-B461-F6AFE15F994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D10BB-6671-4D53-89B4-AE4D18D3301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arXiv:2606.18316. The question-to-split pairing is the author's reading.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085C4-5C61-49C3-A1AD-066C9E16A02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33600"/>
          <a:ext cx="5715000" cy="21336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Deployment question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Safer validation design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a future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Temporal holdout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Map an unseen region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Spatial blocking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Generalize to a new 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Leave-one-station-out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C9BAB4-C5F0-44D4-8A96-1D3D402490A8}"/>
              </a:ext>
            </a:extLst>
          </p:cNvPr>
          <p:cNvSpPr>
            <a:spLocks noGrp="1"/>
          </p:cNvSpPr>
          <p:nvPr/>
        </p:nvSpPr>
        <p:spPr>
          <a:xfrm>
            <a:off x="6896100" y="2133600"/>
            <a:ext cx="4038600" cy="2133600"/>
          </a:xfrm>
          <a:prstGeom prst="roundRect">
            <a:avLst>
              <a:gd name="adj" fmla="val 3571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90FFA-4312-4DC0-897E-36907B1B8EAC}"/>
              </a:ext>
            </a:extLst>
          </p:cNvPr>
          <p:cNvSpPr>
            <a:spLocks noGrp="1"/>
          </p:cNvSpPr>
          <p:nvPr/>
        </p:nvSpPr>
        <p:spPr>
          <a:xfrm>
            <a:off x="7181850" y="2419350"/>
            <a:ext cx="3486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Why random CV can mislead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FF5F71-22C8-42D6-95BA-852CBBBD88AC}"/>
              </a:ext>
            </a:extLst>
          </p:cNvPr>
          <p:cNvSpPr>
            <a:spLocks noGrp="1"/>
          </p:cNvSpPr>
          <p:nvPr/>
        </p:nvSpPr>
        <p:spPr>
          <a:xfrm>
            <a:off x="7181850" y="2895600"/>
            <a:ext cx="3409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Nearby points, repeated station measurements, or adjacent time periods can appear on both sides of the split. The test set may then resemble the training set more than deployment does.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D950F1-AE3B-412C-9DBB-F3BD6BDD69C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248900" cy="1047750"/>
          </a:xfrm>
          <a:prstGeom prst="roundRect">
            <a:avLst>
              <a:gd name="adj" fmla="val 7273"/>
            </a:avLst>
          </a:prstGeom>
          <a:solidFill>
            <a:srgbClr val="4A2C2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1EBFC-EC37-4537-94E5-D9E1CC7FDE82}"/>
              </a:ext>
            </a:extLst>
          </p:cNvPr>
          <p:cNvSpPr>
            <a:spLocks noGrp="1"/>
          </p:cNvSpPr>
          <p:nvPr/>
        </p:nvSpPr>
        <p:spPr>
          <a:xfrm>
            <a:off x="1028700" y="48387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Leakage to watch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F2BB9-B843-4843-A6E1-E478DE452785}"/>
              </a:ext>
            </a:extLst>
          </p:cNvPr>
          <p:cNvSpPr>
            <a:spLocks noGrp="1"/>
          </p:cNvSpPr>
          <p:nvPr/>
        </p:nvSpPr>
        <p:spPr>
          <a:xfrm>
            <a:off x="1028700" y="51625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Same station, adjacent dates, neighboring pixels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0BB45-F272-49C1-8DEC-96CFFF078D18}"/>
              </a:ext>
            </a:extLst>
          </p:cNvPr>
          <p:cNvSpPr>
            <a:spLocks noGrp="1"/>
          </p:cNvSpPr>
          <p:nvPr/>
        </p:nvSpPr>
        <p:spPr>
          <a:xfrm>
            <a:off x="6286500" y="48387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Deployment-shaped split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2E97B-175B-4A70-9333-CFDAD55036FF}"/>
              </a:ext>
            </a:extLst>
          </p:cNvPr>
          <p:cNvSpPr>
            <a:spLocks noGrp="1"/>
          </p:cNvSpPr>
          <p:nvPr/>
        </p:nvSpPr>
        <p:spPr>
          <a:xfrm>
            <a:off x="6286500" y="5162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Hold out the future, the region, or the station the system must face.</a:t>
            </a:r>
          </a:p>
        </p:txBody>
      </p:sp>
    </p:spTree>
    <p:extLst>
      <p:ext uri="{BB962C8B-B14F-4D97-AF65-F5344CB8AC3E}">
        <p14:creationId xmlns:p14="http://schemas.microsoft.com/office/powerpoint/2010/main" val="26300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53A336E-71C2-484D-AE0D-27A2B26B71B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06  TAXONOMY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6C158-6691-4B2A-A4AF-4912C081E6D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Five model families in the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4507C-657D-42A7-AE4B-8D2D26EBE2F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9595B7-789A-4E95-9679-EF5DF08AC5D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taxonomy connects assumptions, inputs, outputs, and evaluation.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99D81-4D96-4AE2-A2C2-D4BFC612764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F90A3-FE31-45F8-8505-3311D8F0A5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36A0C-248C-4C1C-9C58-B8D8A40B1A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E225F3-1966-4438-ABE0-92E2F366DDE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D1F7B0-DBCD-4CB8-BC93-F849A3B8ABA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81200" cy="952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DBF5DC-3AD2-43DE-8114-BF223910772D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Statistical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time series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B16C28-08AD-40BC-B4C3-1074A49EBBA5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524000" cy="190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A0D931-384C-4160-86FB-8A03C6B9ABFB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ARIMA / SARIMA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lagged values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seasonality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317A38-7E47-48E1-BDCA-B4CD73C5D871}"/>
              </a:ext>
            </a:extLst>
          </p:cNvPr>
          <p:cNvSpPr>
            <a:spLocks noGrp="1"/>
          </p:cNvSpPr>
          <p:nvPr/>
        </p:nvSpPr>
        <p:spPr>
          <a:xfrm>
            <a:off x="28194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7ECEB-AF91-4CE6-A155-DC90022E725E}"/>
              </a:ext>
            </a:extLst>
          </p:cNvPr>
          <p:cNvSpPr>
            <a:spLocks noGrp="1"/>
          </p:cNvSpPr>
          <p:nvPr/>
        </p:nvSpPr>
        <p:spPr>
          <a:xfrm>
            <a:off x="2819400" y="2057400"/>
            <a:ext cx="1981200" cy="952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2031B-3BA1-4293-A52E-AFF8F9D8BFAA}"/>
              </a:ext>
            </a:extLst>
          </p:cNvPr>
          <p:cNvSpPr>
            <a:spLocks noGrp="1"/>
          </p:cNvSpPr>
          <p:nvPr/>
        </p:nvSpPr>
        <p:spPr>
          <a:xfrm>
            <a:off x="29908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Geostatistical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C8F0E-5909-4245-AFAC-A66EB7CD0034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1524000" cy="190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1C99C-F029-4901-8DCC-F4CA449E6441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Kriging / IDW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spatial dependence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and distance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A04037-835E-4609-A9AA-A76E7109EF3F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81524-3309-4DE0-A001-33B657AB83B2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1981200" cy="952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A8158-26F5-49B5-AB52-110C6A67302E}"/>
              </a:ext>
            </a:extLst>
          </p:cNvPr>
          <p:cNvSpPr>
            <a:spLocks noGrp="1"/>
          </p:cNvSpPr>
          <p:nvPr/>
        </p:nvSpPr>
        <p:spPr>
          <a:xfrm>
            <a:off x="51244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Classical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FB4F14-E1A1-4ED4-9A58-AEF94B204D33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524000" cy="190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BD49A2-D885-4602-BD41-506DE8E9E572}"/>
              </a:ext>
            </a:extLst>
          </p:cNvPr>
          <p:cNvSpPr>
            <a:spLocks noGrp="1"/>
          </p:cNvSpPr>
          <p:nvPr/>
        </p:nvSpPr>
        <p:spPr>
          <a:xfrm>
            <a:off x="51244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RF / XGBR / SVM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nonlinear tabular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3637C4-AEB6-4E3A-9DF6-C7D9DB24B99F}"/>
              </a:ext>
            </a:extLst>
          </p:cNvPr>
          <p:cNvSpPr>
            <a:spLocks noGrp="1"/>
          </p:cNvSpPr>
          <p:nvPr/>
        </p:nvSpPr>
        <p:spPr>
          <a:xfrm>
            <a:off x="70866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4911D-5967-48AD-A227-8D98AAF9A47D}"/>
              </a:ext>
            </a:extLst>
          </p:cNvPr>
          <p:cNvSpPr>
            <a:spLocks noGrp="1"/>
          </p:cNvSpPr>
          <p:nvPr/>
        </p:nvSpPr>
        <p:spPr>
          <a:xfrm>
            <a:off x="7086600" y="2057400"/>
            <a:ext cx="1981200" cy="952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2F6784-84C7-4DA4-8189-28ECDFABB265}"/>
              </a:ext>
            </a:extLst>
          </p:cNvPr>
          <p:cNvSpPr>
            <a:spLocks noGrp="1"/>
          </p:cNvSpPr>
          <p:nvPr/>
        </p:nvSpPr>
        <p:spPr>
          <a:xfrm>
            <a:off x="72580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Deep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AFE300-E1D4-48F1-9CE2-9394B106B58B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1524000" cy="190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35D125-4BB3-47CF-B830-C3979A446EB2}"/>
              </a:ext>
            </a:extLst>
          </p:cNvPr>
          <p:cNvSpPr>
            <a:spLocks noGrp="1"/>
          </p:cNvSpPr>
          <p:nvPr/>
        </p:nvSpPr>
        <p:spPr>
          <a:xfrm>
            <a:off x="72580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LSTM / CNN / GCCL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sequences, grids,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feature learning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4B8136-243A-4256-A052-8ECD102E9F3D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EDE6D4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FCCFEA-30F0-462A-A43F-802DBB849707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1981200" cy="952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ED7031-61B7-4AEB-A49A-B30B44650CA4}"/>
              </a:ext>
            </a:extLst>
          </p:cNvPr>
          <p:cNvSpPr>
            <a:spLocks noGrp="1"/>
          </p:cNvSpPr>
          <p:nvPr/>
        </p:nvSpPr>
        <p:spPr>
          <a:xfrm>
            <a:off x="93916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Probabilistic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and Bayesian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B16BCE-631F-4D5D-878B-9C61C51F2F7A}"/>
              </a:ext>
            </a:extLst>
          </p:cNvPr>
          <p:cNvSpPr>
            <a:spLocks noGrp="1"/>
          </p:cNvSpPr>
          <p:nvPr/>
        </p:nvSpPr>
        <p:spPr>
          <a:xfrm>
            <a:off x="9448800" y="3105150"/>
            <a:ext cx="1524000" cy="190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957BF8-975E-4A7A-B4E2-DFE0928AFCBD}"/>
              </a:ext>
            </a:extLst>
          </p:cNvPr>
          <p:cNvSpPr>
            <a:spLocks noGrp="1"/>
          </p:cNvSpPr>
          <p:nvPr/>
        </p:nvSpPr>
        <p:spPr>
          <a:xfrm>
            <a:off x="93916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Bayesian / GPR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predictive distributions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and intervals</a:t>
            </a:r>
          </a:p>
        </p:txBody>
      </p:sp>
    </p:spTree>
    <p:extLst>
      <p:ext uri="{BB962C8B-B14F-4D97-AF65-F5344CB8AC3E}">
        <p14:creationId xmlns:p14="http://schemas.microsoft.com/office/powerpoint/2010/main" val="91938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38D98D-30D0-4827-BB1A-7B833B7D656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07  CLASSICAL FOUNDATIONS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198E6-740A-4B3E-B947-2D9A5D1737C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Statistical and geostatistical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F3F0D-B973-4FFD-BCE2-F624602D8738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19D7C-E868-4467-97AF-3A6866F5F8D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 structure and spatial dependence require different assumptions.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B1225-76AF-475D-BA55-90BB10F278D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DC005-AD36-4369-8C57-81A05C65DFA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60DA-9751-4D4A-809F-E29D02C133A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076450"/>
          <a:ext cx="10248900" cy="2590800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Family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evidence and constraint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Statistical time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Lagged observations and seasonal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SARIMA: 48-hour soil-water and salinity forecast; 50 cm depth, 15-minute soil data, hourly atmosphere, daily irrigation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Geostatistical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Spatial dependence modeled as a function of distance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Ordinary Kriging filled SMAP L3 gaps. Co-Kriging with SMOS soil moisture beat Kriging and IDW at mapping precipitation (quarterly R² = 0.944-0.992)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7C6E5B-81F4-4CF3-8A75-94FEFD54725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4914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2A0EBC-A472-4C46-A61B-17A504E0496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76200" cy="9525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4A0507-8BBB-4AA6-8545-B5FE21BD7BFE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451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Why they still matter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BFC4A-912E-4952-9DA2-CBCBA8FF2B22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Interpretability, spatial reasoning, and useful behavior with limited data.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6004FD-223C-4461-BF89-91A719F31651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4914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A70F2B-1F76-4902-9CE5-16072D965A55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76200" cy="95250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F765FD-A8F1-4C81-BD31-42A71D9AED37}"/>
              </a:ext>
            </a:extLst>
          </p:cNvPr>
          <p:cNvSpPr>
            <a:spLocks noGrp="1"/>
          </p:cNvSpPr>
          <p:nvPr/>
        </p:nvSpPr>
        <p:spPr>
          <a:xfrm>
            <a:off x="6248400" y="5029200"/>
            <a:ext cx="451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Transfer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D62171-F1F4-4A62-8327-ABAAB321D756}"/>
              </a:ext>
            </a:extLst>
          </p:cNvPr>
          <p:cNvSpPr>
            <a:spLocks noGrp="1"/>
          </p:cNvSpPr>
          <p:nvPr/>
        </p:nvSpPr>
        <p:spPr>
          <a:xfrm>
            <a:off x="6248400" y="54102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Distributional assumptions and scale mismatch can weaken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98419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F5921DC-DDD8-48CF-AB80-816966BDEF6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08  CLASSICAL 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2218BB-60E1-4FD9-B482-C8F33342A30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Classical machine learning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34536-5BDD-43B8-99A4-0E8B135ADBF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F8EBE6-16F3-44A3-A1C3-D29F2C46F94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Tree ensembles and kernel models combine heterogeneous variables without a full physical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EA233-D04E-4197-A507-D945835AD30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5F0A8-542B-4297-9838-F8C3979A7DA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6EEF1-B208-4C06-B701-18A83656742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685800" y="1981200"/>
          <a:ext cx="10248900" cy="2781300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 or study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Inputs and task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SMRFR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ISMN, ERA5-Land, MODIS, soil, topography; global multilayer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Five depth layers daily at 9 km resolution for 2000-2023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XGBR-GA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Sentinel-1, Sentinel-2, ALOS DSM; high-resolution regression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R² = 0.891; RMSE = 0.879%; best of RF, SVM, and CatBoost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SVM drought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Average temperature, specific humidity, soil moisture, dew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AUC = 0.8166; best of SVM, RF, GB, and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74060F-9890-49EA-A2B0-E3FF47B6E3A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048000" cy="323850"/>
          </a:xfrm>
          <a:prstGeom prst="roundRect">
            <a:avLst>
              <a:gd name="adj" fmla="val 23529"/>
            </a:avLst>
          </a:prstGeom>
          <a:solidFill>
            <a:srgbClr val="D9E7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3F6358-A1C4-4D58-B25F-1F9BC1EAC449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RF: bagged trees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EAE236-EAAA-4CA5-A9E7-8D7B498EE500}"/>
              </a:ext>
            </a:extLst>
          </p:cNvPr>
          <p:cNvSpPr>
            <a:spLocks noGrp="1"/>
          </p:cNvSpPr>
          <p:nvPr/>
        </p:nvSpPr>
        <p:spPr>
          <a:xfrm>
            <a:off x="3962400" y="4953000"/>
            <a:ext cx="3048000" cy="323850"/>
          </a:xfrm>
          <a:prstGeom prst="roundRect">
            <a:avLst>
              <a:gd name="adj" fmla="val 23529"/>
            </a:avLst>
          </a:prstGeom>
          <a:solidFill>
            <a:srgbClr val="F3E4D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F1868-7A22-43ED-92C4-CE13B01C7113}"/>
              </a:ext>
            </a:extLst>
          </p:cNvPr>
          <p:cNvSpPr>
            <a:spLocks noGrp="1"/>
          </p:cNvSpPr>
          <p:nvPr/>
        </p:nvSpPr>
        <p:spPr>
          <a:xfrm>
            <a:off x="4057650" y="5019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825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9825B"/>
                </a:solidFill>
                <a:latin typeface="Aptos"/>
                <a:ea typeface="Aptos"/>
                <a:cs typeface="Aptos"/>
              </a:rPr>
              <a:t>XGBR: boosted trees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4C7C8A-4869-40EC-80AE-576A3BEE2A11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3695700" cy="323850"/>
          </a:xfrm>
          <a:prstGeom prst="roundRect">
            <a:avLst>
              <a:gd name="adj" fmla="val 23529"/>
            </a:avLst>
          </a:prstGeom>
          <a:solidFill>
            <a:srgbClr val="E1EBD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3D580C-D151-40E5-8381-45B6F9EEEECF}"/>
              </a:ext>
            </a:extLst>
          </p:cNvPr>
          <p:cNvSpPr>
            <a:spLocks noGrp="1"/>
          </p:cNvSpPr>
          <p:nvPr/>
        </p:nvSpPr>
        <p:spPr>
          <a:xfrm>
            <a:off x="7334250" y="5019675"/>
            <a:ext cx="3505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SVM: kernel, margin-based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8604B-860C-447D-BAE8-05EF356010DD}"/>
              </a:ext>
            </a:extLst>
          </p:cNvPr>
          <p:cNvSpPr>
            <a:spLocks noGrp="1"/>
          </p:cNvSpPr>
          <p:nvPr/>
        </p:nvSpPr>
        <p:spPr>
          <a:xfrm>
            <a:off x="876300" y="5410200"/>
            <a:ext cx="986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Different studies, targets, regions, and splits mean these values are not one shared leaderboard.</a:t>
            </a:r>
          </a:p>
        </p:txBody>
      </p:sp>
    </p:spTree>
    <p:extLst>
      <p:ext uri="{BB962C8B-B14F-4D97-AF65-F5344CB8AC3E}">
        <p14:creationId xmlns:p14="http://schemas.microsoft.com/office/powerpoint/2010/main" val="79823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FC3379-22EE-4C95-BC03-9AD368649B0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09  DEEP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45876-C643-43E2-B905-0F41287D33E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Deep learning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E9135-84F1-4E0F-BBE2-8477CE34668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764A4-6431-4D51-81EB-9544D2F9228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reported gains depend on the input structure and the forecast task.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33BBA-ED1F-4F45-A04C-949776871A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F0894-B3BF-4512-B752-E8A4743C5D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CE363-DC6F-4A16-87B7-869710BA56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1943100"/>
          <a:ext cx="10248900" cy="3621024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Architecture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Structure matched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Sequence memory plus satellite, climate, topography, and soil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Daily forecast: R² = 0.87; RMSE = 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GCCL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Graph and convolutional recurrence on SMAP L4 grids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1-7 day RMSE = 0.018-0.038 m³/m³; up to 14.3% lower error than ConvLSTM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1D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Spectral feature extraction from UGV hyperspectral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6-24 inch classes: testing accuracy = 0.67; AUC =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PHYs-LSTM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LSTM with physical constraints in the training objective, using ERA5-Land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Next-day forecast: R² +20.7%; RMSE -8.2% versus conventional 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Attention for long horizons and deeper soil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Mixed versus LSTM across two studies; LSTM-Transformer hybrid best at long 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0D276C5-A456-4DD0-BB88-084DEA5100E8}"/>
              </a:ext>
            </a:extLst>
          </p:cNvPr>
          <p:cNvSpPr>
            <a:spLocks noGrp="1"/>
          </p:cNvSpPr>
          <p:nvPr/>
        </p:nvSpPr>
        <p:spPr>
          <a:xfrm>
            <a:off x="1143000" y="576072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Architecture choice should follow the structure of the input: sequence, grid, spectrum, or physical constraint.</a:t>
            </a:r>
          </a:p>
        </p:txBody>
      </p:sp>
    </p:spTree>
    <p:extLst>
      <p:ext uri="{BB962C8B-B14F-4D97-AF65-F5344CB8AC3E}">
        <p14:creationId xmlns:p14="http://schemas.microsoft.com/office/powerpoint/2010/main" val="68890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1FEF746-267B-4836-8813-D0450BA54DE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10  UNCERTAINTY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70D16-14EA-40CF-B980-7F899AE3642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Probabilistic and Bayesian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722B9-28AB-4D66-A4A5-34873CDB071B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1AB46-5B32-4241-9701-D6659BECCF0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 useful system should communicate when the evidence is weak.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4774C6-E45A-4CD3-89A0-608EBE97955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E780F-E04F-4482-B070-688A8696FA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C8435-94C0-4C04-8C7D-0814727FF59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4F204A-D746-4591-9726-FB153523C02C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5BC6B-2165-4EC3-A3C5-3B20CBBD58E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6200" cy="125730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B22BC-5792-45F1-A89C-A1035ECD5B73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Bayesian inverse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51F33F-5669-49F7-BEEF-FC2BFC272E0F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436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Sparse upper and lower drained-limit measurements produce available-water-capacity predictions on a 90 m grid.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1AA4D8-C4EB-4E8D-8C8C-98991CC2EEFD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51054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84B70-0AC6-480F-BEF3-40FA1EE55D13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76200" cy="125730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80B20-1E5E-4221-B1AF-E387D7A3BF9A}"/>
              </a:ext>
            </a:extLst>
          </p:cNvPr>
          <p:cNvSpPr>
            <a:spLocks noGrp="1"/>
          </p:cNvSpPr>
          <p:nvPr/>
        </p:nvSpPr>
        <p:spPr>
          <a:xfrm>
            <a:off x="6057900" y="2228850"/>
            <a:ext cx="4705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Hierarchical Bayesian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AE576-35B9-4B62-819D-07D302668F6E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Regional drought probabilities; more accurate and precise forecasts, with fewer false alarms than a regular Bayesian model.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338261-FAA5-4266-8F4A-3F02AA30CA0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836E9-EADB-483F-BB5B-D017EFFAC98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76200" cy="12573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CC0468-E54D-4462-A1D0-99AA7D2F902B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GPR-RU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B3EBA-8FD3-43C5-9F28-C452EAE1C064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436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Radially Uniform sample design cut training time and lowered point and probabilistic forecast errors versus generic GPR.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237070-E73A-40A7-8913-83C16BFC5654}"/>
              </a:ext>
            </a:extLst>
          </p:cNvPr>
          <p:cNvSpPr>
            <a:spLocks noGrp="1"/>
          </p:cNvSpPr>
          <p:nvPr/>
        </p:nvSpPr>
        <p:spPr>
          <a:xfrm>
            <a:off x="5829300" y="3638550"/>
            <a:ext cx="51054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FF1F1C-0EB7-4488-98AC-85989CB35F44}"/>
              </a:ext>
            </a:extLst>
          </p:cNvPr>
          <p:cNvSpPr>
            <a:spLocks noGrp="1"/>
          </p:cNvSpPr>
          <p:nvPr/>
        </p:nvSpPr>
        <p:spPr>
          <a:xfrm>
            <a:off x="5829300" y="3638550"/>
            <a:ext cx="76200" cy="12573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5C8A7-E20D-46E2-B341-377F8D8607C3}"/>
              </a:ext>
            </a:extLst>
          </p:cNvPr>
          <p:cNvSpPr>
            <a:spLocks noGrp="1"/>
          </p:cNvSpPr>
          <p:nvPr/>
        </p:nvSpPr>
        <p:spPr>
          <a:xfrm>
            <a:off x="6057900" y="3810000"/>
            <a:ext cx="4705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SGPR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4F808-F916-4DF7-A960-078653C0B080}"/>
              </a:ext>
            </a:extLst>
          </p:cNvPr>
          <p:cNvSpPr>
            <a:spLocks noGrp="1"/>
          </p:cNvSpPr>
          <p:nvPr/>
        </p:nvSpPr>
        <p:spPr>
          <a:xfrm>
            <a:off x="6057900" y="4191000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Stacking GPR, an ensemble method, estimates soil moisture from 11 multisource remote-sensing features and exceeded existing models.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CF4B72-18B2-4EAD-93DB-563D2413F71F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248900" cy="552450"/>
          </a:xfrm>
          <a:prstGeom prst="roundRect">
            <a:avLst>
              <a:gd name="adj" fmla="val 13793"/>
            </a:avLst>
          </a:prstGeom>
          <a:solidFill>
            <a:srgbClr val="4A2C2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3FA3A-22F7-4D41-A6DA-1FC28F3070D0}"/>
              </a:ext>
            </a:extLst>
          </p:cNvPr>
          <p:cNvSpPr>
            <a:spLocks noGrp="1"/>
          </p:cNvSpPr>
          <p:nvPr/>
        </p:nvSpPr>
        <p:spPr>
          <a:xfrm>
            <a:off x="990600" y="5381625"/>
            <a:ext cx="963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Point estimate asks what value to output. Probabilistic estimate asks how reliable that value is.</a:t>
            </a:r>
          </a:p>
        </p:txBody>
      </p:sp>
    </p:spTree>
    <p:extLst>
      <p:ext uri="{BB962C8B-B14F-4D97-AF65-F5344CB8AC3E}">
        <p14:creationId xmlns:p14="http://schemas.microsoft.com/office/powerpoint/2010/main" val="40378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FC3379-22EE-4C95-BC03-9AD368649B0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11  BASELINES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45876-C643-43E2-B905-0F41287D33E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What the baseline comparisons show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E9135-84F1-4E0F-BBE2-8477CE34668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764A4-6431-4D51-81EB-9544D2F9228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survey reports head-to-head results from reviewed studies, not formal ablation studies.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33BBA-ED1F-4F45-A04C-949776871A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F0894-B3BF-4512-B752-E8A4743C5D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CE363-DC6F-4A16-87B7-869710BA56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1943100"/>
          <a:ext cx="10250424" cy="37124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Comparison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was changed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outcome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PHYs-LSTM vs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Physical constraints added to the training 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R² +20.7%; RMSE -8.2%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GCCL vs ConvLSTM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Graph component added for spatial structure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RMSE up to 14.3% lower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OCK vs OK and IDW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SMOS soil moisture added as an auxiliary variable for precipitation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Best of the three; quarterly R² = 0.944-0.992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XGBR-GA vs RF, SVM, CatBoost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Combined with a genetic algorithm; fused Sentinel-1, Sentinel-2, and DSM inputs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Best of four; R² = 0.891; RMSE = 0.879%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Hierarchical vs regular Bayesian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Hierarchical structure across regions for drought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More accurate and precise; fewer false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GPR-RU vs generic GPR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Radially Uniform sample design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Lower errors and shorter training time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0D276C5-A456-4DD0-BB88-084DEA5100E8}"/>
              </a:ext>
            </a:extLst>
          </p:cNvPr>
          <p:cNvSpPr>
            <a:spLocks noGrp="1"/>
          </p:cNvSpPr>
          <p:nvPr/>
        </p:nvSpPr>
        <p:spPr>
          <a:xfrm>
            <a:off x="1143000" y="585216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Setups differ across studies, so read each row on its own and not as a leaderboard.</a:t>
            </a:r>
          </a:p>
        </p:txBody>
      </p:sp>
    </p:spTree>
    <p:extLst>
      <p:ext uri="{BB962C8B-B14F-4D97-AF65-F5344CB8AC3E}">
        <p14:creationId xmlns:p14="http://schemas.microsoft.com/office/powerpoint/2010/main" val="68890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BCD7F8-9C17-40E9-8357-CBBA11809FC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12  TABLE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520807-2895-417F-AE43-52347CC5069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One pipeline, many model-target pairs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21DDC-BFDB-454F-9C22-9282FAA04C2E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10D0A-D0C5-4B5B-874A-8DCD21419AA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model name alone does not define the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F8470-DB9A-4E25-9485-61187F692D8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B33DD-2740-4EE4-85E6-18546EDADD4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86246-0521-429E-BF6A-2846E9EAA4C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1866900"/>
          <a:ext cx="10250423" cy="3829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/>
              </a:tblGrid>
              <a:tr h="3480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Representative input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Past observation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future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Cluster-ARIMA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Clusters of past observations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Predict soil respiration (not soil moisture)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VAR-ARIMA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Precipitation, soil moisture, evapotranspiration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Predict soil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Ordinary Kriging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 L3 soil-moisture pixels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Complete data for gap filling and interpolation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 and SMOS spatiotemporal soil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Spatial interpolation of precipitation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SMRFR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In-situ SM, MODIS, soil, topography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Five-depth daily SM at 9 km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GCCL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 L4 spatiotemporal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SM for the next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SVM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Temperature, humidity, SM, dew point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Drought classification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GPR-RU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Historical and lagged SM plus RU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Point forecast, variance, intervals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PHY-LSTM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ERA5-Land dataset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next-day SM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B86B430-EF17-48D8-BFB9-92153A53DC5C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Selected rows from the survey's Table 1, a map of input-output relationships. R means regression; C means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964260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583CAD-61B9-4138-B359-DFD5182D5E8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13 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73A2-C191-4F99-826A-C52EC4F58EB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The survey's central caution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2900E4-B377-4CD6-A22C-9418B85A430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0DF805-1504-49DD-BEC5-0CDB828763E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Direct rankings are difficult because the experiments are not identical.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8E984-77C2-4494-8879-D6D8F66D91F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90BEC-2573-4BB2-8B7C-764A1EF555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79996-DA80-4BF5-9113-9BA7960FEDD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BCEDAB-0C2B-48D6-A30B-6765E9440003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762500" cy="3276600"/>
          </a:xfrm>
          <a:prstGeom prst="roundRect">
            <a:avLst>
              <a:gd name="adj" fmla="val 2326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7786-7D10-4400-8D16-F472402152A9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What changes across studies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06E67-0BD5-4A7B-97A8-C29A79F81F6B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8862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Input variables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Output definitions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Regions and soil depths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Forecast horizons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Sensing modalities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 protocols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FCC239-7F68-43A9-9C10-FB253520115F}"/>
              </a:ext>
            </a:extLst>
          </p:cNvPr>
          <p:cNvSpPr>
            <a:spLocks noGrp="1"/>
          </p:cNvSpPr>
          <p:nvPr/>
        </p:nvSpPr>
        <p:spPr>
          <a:xfrm>
            <a:off x="6172200" y="2038350"/>
            <a:ext cx="4762500" cy="3276600"/>
          </a:xfrm>
          <a:prstGeom prst="roundRect">
            <a:avLst>
              <a:gd name="adj" fmla="val 2326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89EF2-3BC9-4100-B7D5-AB1FCB4E848B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What the paper concludes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DBA44-91C0-436F-AF0F-56B77D0C5055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38862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Regression dominates because moisture is continuous.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Few studies use classification, though it suits drought and irrigation decisions.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availability limits deployment.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Interpretability remains a practical concern.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Benchmarking across regions, depths, and sensors is still needed.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5DD0C3-DD5A-4611-84F4-CB801CA6C5BD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248900" cy="381000"/>
          </a:xfrm>
          <a:prstGeom prst="roundRect">
            <a:avLst>
              <a:gd name="adj" fmla="val 20000"/>
            </a:avLst>
          </a:prstGeom>
          <a:solidFill>
            <a:srgbClr val="4A2C2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5A8DB8-82D6-408C-AB1E-5FDC732249D3}"/>
              </a:ext>
            </a:extLst>
          </p:cNvPr>
          <p:cNvSpPr>
            <a:spLocks noGrp="1"/>
          </p:cNvSpPr>
          <p:nvPr/>
        </p:nvSpPr>
        <p:spPr>
          <a:xfrm>
            <a:off x="952500" y="5591175"/>
            <a:ext cx="971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Interpretation rule: the same metric does not mean the same task.</a:t>
            </a:r>
          </a:p>
        </p:txBody>
      </p:sp>
    </p:spTree>
    <p:extLst>
      <p:ext uri="{BB962C8B-B14F-4D97-AF65-F5344CB8AC3E}">
        <p14:creationId xmlns:p14="http://schemas.microsoft.com/office/powerpoint/2010/main" val="483413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5A76D81-F5CD-4907-95E5-12034EB30B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14 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C03964-4D7F-4F41-A72D-ED080132E44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 practical modeling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9E04F-9185-481F-8A4A-6BE5764ED38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DAF9A-E377-41A7-8AE9-3287CBA135A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Keep every modeling decision connected to the deployment question.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1FD3A-1712-4D38-B958-29513102F4B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F3C72-63B4-4B6D-973C-BA6A7CBD69E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arXiv:2606.18316. The workflow is the author's synthesis of the survey's guidance.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CC710-6679-47AE-8909-589CD8957FA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9C1A8A-7676-4EB7-8E8D-01B95623D2E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36A4ED-B06C-4EA0-85E5-5ED94BE0F7A8}"/>
              </a:ext>
            </a:extLst>
          </p:cNvPr>
          <p:cNvSpPr>
            <a:spLocks noGrp="1"/>
          </p:cNvSpPr>
          <p:nvPr/>
        </p:nvSpPr>
        <p:spPr>
          <a:xfrm>
            <a:off x="12192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A4386-C965-428C-9167-D012CE4BBC5E}"/>
              </a:ext>
            </a:extLst>
          </p:cNvPr>
          <p:cNvSpPr>
            <a:spLocks noGrp="1"/>
          </p:cNvSpPr>
          <p:nvPr/>
        </p:nvSpPr>
        <p:spPr>
          <a:xfrm>
            <a:off x="12192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CF563A-82EA-4BA0-8E03-C64A6EECADEA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8D945C-7536-4A22-9433-DF57507550C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Estimate, forecast, map, gap fill, or classify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F2FD78-7158-48FA-8358-323524A7797D}"/>
              </a:ext>
            </a:extLst>
          </p:cNvPr>
          <p:cNvSpPr>
            <a:spLocks noGrp="1"/>
          </p:cNvSpPr>
          <p:nvPr/>
        </p:nvSpPr>
        <p:spPr>
          <a:xfrm>
            <a:off x="24765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0549E6-AE21-4B0D-B121-B63BD34D4EF3}"/>
              </a:ext>
            </a:extLst>
          </p:cNvPr>
          <p:cNvSpPr>
            <a:spLocks noGrp="1"/>
          </p:cNvSpPr>
          <p:nvPr/>
        </p:nvSpPr>
        <p:spPr>
          <a:xfrm>
            <a:off x="30099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B2A82-C2C3-45F8-80EE-012548FDD43F}"/>
              </a:ext>
            </a:extLst>
          </p:cNvPr>
          <p:cNvSpPr>
            <a:spLocks noGrp="1"/>
          </p:cNvSpPr>
          <p:nvPr/>
        </p:nvSpPr>
        <p:spPr>
          <a:xfrm>
            <a:off x="30099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14EB0B-5F92-4AB2-840D-E7FA3AE51843}"/>
              </a:ext>
            </a:extLst>
          </p:cNvPr>
          <p:cNvSpPr>
            <a:spLocks noGrp="1"/>
          </p:cNvSpPr>
          <p:nvPr/>
        </p:nvSpPr>
        <p:spPr>
          <a:xfrm>
            <a:off x="26289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3A431-8823-42B4-9832-D407FCE12121}"/>
              </a:ext>
            </a:extLst>
          </p:cNvPr>
          <p:cNvSpPr>
            <a:spLocks noGrp="1"/>
          </p:cNvSpPr>
          <p:nvPr/>
        </p:nvSpPr>
        <p:spPr>
          <a:xfrm>
            <a:off x="26289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Sensors, satellites, weather, soil, terrain,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EAB3F6-59A9-44C2-9191-D67C53AA43EB}"/>
              </a:ext>
            </a:extLst>
          </p:cNvPr>
          <p:cNvSpPr>
            <a:spLocks noGrp="1"/>
          </p:cNvSpPr>
          <p:nvPr/>
        </p:nvSpPr>
        <p:spPr>
          <a:xfrm>
            <a:off x="42672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3309AA-778C-4EE5-B48E-A44094FC5AC6}"/>
              </a:ext>
            </a:extLst>
          </p:cNvPr>
          <p:cNvSpPr>
            <a:spLocks noGrp="1"/>
          </p:cNvSpPr>
          <p:nvPr/>
        </p:nvSpPr>
        <p:spPr>
          <a:xfrm>
            <a:off x="48006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F68351-EFA3-41A6-8C25-F234A3A25006}"/>
              </a:ext>
            </a:extLst>
          </p:cNvPr>
          <p:cNvSpPr>
            <a:spLocks noGrp="1"/>
          </p:cNvSpPr>
          <p:nvPr/>
        </p:nvSpPr>
        <p:spPr>
          <a:xfrm>
            <a:off x="48006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6CC328-BB28-4161-9DA5-2B95B091C9E7}"/>
              </a:ext>
            </a:extLst>
          </p:cNvPr>
          <p:cNvSpPr>
            <a:spLocks noGrp="1"/>
          </p:cNvSpPr>
          <p:nvPr/>
        </p:nvSpPr>
        <p:spPr>
          <a:xfrm>
            <a:off x="44196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00F889-CFF3-44A6-BACB-4AC7FFE9ED3D}"/>
              </a:ext>
            </a:extLst>
          </p:cNvPr>
          <p:cNvSpPr>
            <a:spLocks noGrp="1"/>
          </p:cNvSpPr>
          <p:nvPr/>
        </p:nvSpPr>
        <p:spPr>
          <a:xfrm>
            <a:off x="44196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Temporal, spatial, or station-aware validation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26B787D-5FBF-40F6-A050-DA5508A0DF97}"/>
              </a:ext>
            </a:extLst>
          </p:cNvPr>
          <p:cNvSpPr>
            <a:spLocks noGrp="1"/>
          </p:cNvSpPr>
          <p:nvPr/>
        </p:nvSpPr>
        <p:spPr>
          <a:xfrm>
            <a:off x="60579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081EED-036E-421F-AFF4-2ACD27F23B58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06F005-AD46-476C-A695-A670EC5F97B6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A102C2-E45C-4F25-8E62-EE829A548965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0C6C88-D89A-47B1-A93C-822B047C91F6}"/>
              </a:ext>
            </a:extLst>
          </p:cNvPr>
          <p:cNvSpPr>
            <a:spLocks noGrp="1"/>
          </p:cNvSpPr>
          <p:nvPr/>
        </p:nvSpPr>
        <p:spPr>
          <a:xfrm>
            <a:off x="62103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ARIMA, Kriging, or Random Forest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F875529-8C51-4FDB-B7CD-B1CD8012A50A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B06EE18-7C89-4DB1-A571-C6ADD51351C0}"/>
              </a:ext>
            </a:extLst>
          </p:cNvPr>
          <p:cNvSpPr>
            <a:spLocks noGrp="1"/>
          </p:cNvSpPr>
          <p:nvPr/>
        </p:nvSpPr>
        <p:spPr>
          <a:xfrm>
            <a:off x="83820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5AA8C1-C60C-4BF3-9CE5-ABDA1495F7CD}"/>
              </a:ext>
            </a:extLst>
          </p:cNvPr>
          <p:cNvSpPr>
            <a:spLocks noGrp="1"/>
          </p:cNvSpPr>
          <p:nvPr/>
        </p:nvSpPr>
        <p:spPr>
          <a:xfrm>
            <a:off x="83820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EAE515-6AD1-4A15-8E89-CE3A26F04699}"/>
              </a:ext>
            </a:extLst>
          </p:cNvPr>
          <p:cNvSpPr>
            <a:spLocks noGrp="1"/>
          </p:cNvSpPr>
          <p:nvPr/>
        </p:nvSpPr>
        <p:spPr>
          <a:xfrm>
            <a:off x="80010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49FE82-7C6C-4A0F-9BE5-8F55804EFAAE}"/>
              </a:ext>
            </a:extLst>
          </p:cNvPr>
          <p:cNvSpPr>
            <a:spLocks noGrp="1"/>
          </p:cNvSpPr>
          <p:nvPr/>
        </p:nvSpPr>
        <p:spPr>
          <a:xfrm>
            <a:off x="80010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Add complexity for a known limitation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21EB3F-6198-42B3-A0D9-F2313EA157CF}"/>
              </a:ext>
            </a:extLst>
          </p:cNvPr>
          <p:cNvSpPr>
            <a:spLocks noGrp="1"/>
          </p:cNvSpPr>
          <p:nvPr/>
        </p:nvSpPr>
        <p:spPr>
          <a:xfrm>
            <a:off x="96393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90E66F-18EC-4C62-AE9C-A2DF1708E41C}"/>
              </a:ext>
            </a:extLst>
          </p:cNvPr>
          <p:cNvSpPr>
            <a:spLocks noGrp="1"/>
          </p:cNvSpPr>
          <p:nvPr/>
        </p:nvSpPr>
        <p:spPr>
          <a:xfrm>
            <a:off x="101727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A9CFD8-7A30-46D0-93D8-449DD3074D60}"/>
              </a:ext>
            </a:extLst>
          </p:cNvPr>
          <p:cNvSpPr>
            <a:spLocks noGrp="1"/>
          </p:cNvSpPr>
          <p:nvPr/>
        </p:nvSpPr>
        <p:spPr>
          <a:xfrm>
            <a:off x="101727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C11397-F157-43D7-ABB4-32C8714C0C0C}"/>
              </a:ext>
            </a:extLst>
          </p:cNvPr>
          <p:cNvSpPr>
            <a:spLocks noGrp="1"/>
          </p:cNvSpPr>
          <p:nvPr/>
        </p:nvSpPr>
        <p:spPr>
          <a:xfrm>
            <a:off x="97917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53211-C773-4E6E-A3A5-8E6588AB8390}"/>
              </a:ext>
            </a:extLst>
          </p:cNvPr>
          <p:cNvSpPr>
            <a:spLocks noGrp="1"/>
          </p:cNvSpPr>
          <p:nvPr/>
        </p:nvSpPr>
        <p:spPr>
          <a:xfrm>
            <a:off x="97917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Region, depth, horizon, uncertainty, failures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7A3B5F-CC29-49DF-86E8-1BF447692C8A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744200" cy="438150"/>
          </a:xfrm>
          <a:prstGeom prst="roundRect">
            <a:avLst>
              <a:gd name="adj" fmla="val 17391"/>
            </a:avLst>
          </a:prstGeom>
          <a:solidFill>
            <a:srgbClr val="4A2C2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417853-D11D-4E16-A9BF-C6B8387DC92C}"/>
              </a:ext>
            </a:extLst>
          </p:cNvPr>
          <p:cNvSpPr>
            <a:spLocks noGrp="1"/>
          </p:cNvSpPr>
          <p:nvPr/>
        </p:nvSpPr>
        <p:spPr>
          <a:xfrm>
            <a:off x="952500" y="544830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The best workflow is deployment-shaped before it is model-shaped: define the claim, then test the claim under the conditions of use.</a:t>
            </a:r>
          </a:p>
        </p:txBody>
      </p:sp>
    </p:spTree>
    <p:extLst>
      <p:ext uri="{BB962C8B-B14F-4D97-AF65-F5344CB8AC3E}">
        <p14:creationId xmlns:p14="http://schemas.microsoft.com/office/powerpoint/2010/main" val="193429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51B4651-DC54-4E8D-94F9-160CC637452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15  RESEARCH GAPS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1425F1-B6C4-4D83-B4F9-E4DAD57FD82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Open research directions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BFA1F-58AB-445B-BF69-EA8E4ACDDD9E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1B032-7DB0-4CFA-B4C7-997E7F35E52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next improvement may be in the data, validation, or uncertainty rather than the architecture.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F5EE22-9DC8-432E-A6E8-51EABAADD90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43454-417A-4EAF-9FF0-59D294A61D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6119C-A240-446C-BDC8-B4E17DDD5CD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28E14D-963D-40D9-97B5-F2F433EF958D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F191A5-0378-449F-9A60-28DE6C5A5C25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6200" cy="14287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B8A063-267C-452F-BBF3-E8A4192C73C6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1D1B-FE54-46AA-80C3-499A32C171B0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Quantify and report predictive uncertainty, especially for sparse observations and operational forecasts.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2FA2E6-E877-4090-AD9D-E12A0606DA6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6C496-841F-4172-BC48-054135D0D5FC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76200" cy="14287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5976EA-2819-42A4-A3C7-FCE88B2FA014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Benchmarking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66B00E-448F-4148-96CE-E37B18D78BF8}"/>
              </a:ext>
            </a:extLst>
          </p:cNvPr>
          <p:cNvSpPr>
            <a:spLocks noGrp="1"/>
          </p:cNvSpPr>
          <p:nvPr/>
        </p:nvSpPr>
        <p:spPr>
          <a:xfrm>
            <a:off x="4705350" y="2590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Compare regions, depths, sensing modalities, horizons, and split designs consistently.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57442D-F443-4C9A-AE2C-2119D20E3234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65647-1156-44CE-B46D-2330556C65CD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76200" cy="14287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D81298-1759-4C13-B0A2-44EB56736ED7}"/>
              </a:ext>
            </a:extLst>
          </p:cNvPr>
          <p:cNvSpPr>
            <a:spLocks noGrp="1"/>
          </p:cNvSpPr>
          <p:nvPr/>
        </p:nvSpPr>
        <p:spPr>
          <a:xfrm>
            <a:off x="8496300" y="2209800"/>
            <a:ext cx="2266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Scale and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3D951D-F028-4D38-8B67-D4418C571435}"/>
              </a:ext>
            </a:extLst>
          </p:cNvPr>
          <p:cNvSpPr>
            <a:spLocks noGrp="1"/>
          </p:cNvSpPr>
          <p:nvPr/>
        </p:nvSpPr>
        <p:spPr>
          <a:xfrm>
            <a:off x="8496300" y="2590800"/>
            <a:ext cx="2266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Satellite-to-field scale mismatch and sparse ground data limit deployment.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8632FF-12F1-4925-850F-D381B6807E78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1C559-9B48-4365-AD65-3D2445D9DA05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76200" cy="14287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6F0E1-9481-44BE-86E0-26C2A4D35D7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Physics and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BA41C3-1F27-49F6-B932-17560CCF8700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Physics-guided deep learning is among the latest trends; its transfer value needs benchmarking.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A0CA52-0248-4C61-8A59-E715A928C928}"/>
              </a:ext>
            </a:extLst>
          </p:cNvPr>
          <p:cNvSpPr>
            <a:spLocks noGrp="1"/>
          </p:cNvSpPr>
          <p:nvPr/>
        </p:nvSpPr>
        <p:spPr>
          <a:xfrm>
            <a:off x="5981700" y="38290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EA90FE-BB40-4BD6-B9F9-F6962FC15D0A}"/>
              </a:ext>
            </a:extLst>
          </p:cNvPr>
          <p:cNvSpPr>
            <a:spLocks noGrp="1"/>
          </p:cNvSpPr>
          <p:nvPr/>
        </p:nvSpPr>
        <p:spPr>
          <a:xfrm>
            <a:off x="5981700" y="3829050"/>
            <a:ext cx="76200" cy="14287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93648B-7B1A-4D4A-8EE0-45463DA8B329}"/>
              </a:ext>
            </a:extLst>
          </p:cNvPr>
          <p:cNvSpPr>
            <a:spLocks noGrp="1"/>
          </p:cNvSpPr>
          <p:nvPr/>
        </p:nvSpPr>
        <p:spPr>
          <a:xfrm>
            <a:off x="6210300" y="40005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30CB75-19DC-4F99-BBAB-875B52E826DA}"/>
              </a:ext>
            </a:extLst>
          </p:cNvPr>
          <p:cNvSpPr>
            <a:spLocks noGrp="1"/>
          </p:cNvSpPr>
          <p:nvPr/>
        </p:nvSpPr>
        <p:spPr>
          <a:xfrm>
            <a:off x="6210300" y="438150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Reduced interpretability limits real-world use; explaining which inputs drive a prediction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03502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506657-4945-45C0-B0F2-DDF957E8B9A4}"/>
              </a:ext>
            </a:extLst>
          </p:cNvPr>
          <p:cNvSpPr>
            <a:spLocks noGrp="1"/>
          </p:cNvSpPr>
          <p:nvPr/>
        </p:nvSpPr>
        <p:spPr>
          <a:xfrm>
            <a:off x="781050" y="666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TECHNICAL 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A5E7D0-B707-4F23-8572-0D8C63C0503D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7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Three decisions make the result credible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95CD5F-F316-4C4B-BAE0-D0B53D3FE688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114300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2B5D2-A82A-4707-809E-30F5D86DAAA9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EEC25-E3C0-4829-9920-978FF404ED15}"/>
              </a:ext>
            </a:extLst>
          </p:cNvPr>
          <p:cNvSpPr>
            <a:spLocks noGrp="1"/>
          </p:cNvSpPr>
          <p:nvPr/>
        </p:nvSpPr>
        <p:spPr>
          <a:xfrm>
            <a:off x="1524000" y="2247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The target defines the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03B37-793A-470C-8411-3A53F63EDA79}"/>
              </a:ext>
            </a:extLst>
          </p:cNvPr>
          <p:cNvSpPr>
            <a:spLocks noGrp="1"/>
          </p:cNvSpPr>
          <p:nvPr/>
        </p:nvSpPr>
        <p:spPr>
          <a:xfrm>
            <a:off x="1524000" y="25908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Continuous estimates and moisture classes require different outputs, metrics, and error interpretations.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7C86E-2742-4843-9C25-3A4F14000E87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43593-1254-4D0F-AE6D-CE73FF3226A5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Validation defines credibility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7EE7A-F104-4874-A5CD-2BFC4E4AE720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Temporal, spatial, and station-aware splits test the generalization claim the deployment actually needs.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75176-5DEF-4808-AE8C-474C051968FF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22AA2-214B-4D25-9DAD-98A15A730436}"/>
              </a:ext>
            </a:extLst>
          </p:cNvPr>
          <p:cNvSpPr>
            <a:spLocks noGrp="1"/>
          </p:cNvSpPr>
          <p:nvPr/>
        </p:nvSpPr>
        <p:spPr>
          <a:xfrm>
            <a:off x="1524000" y="4381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Complexity must earn its place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5708A-6D47-4217-A05B-BA048165C20E}"/>
              </a:ext>
            </a:extLst>
          </p:cNvPr>
          <p:cNvSpPr>
            <a:spLocks noGrp="1"/>
          </p:cNvSpPr>
          <p:nvPr/>
        </p:nvSpPr>
        <p:spPr>
          <a:xfrm>
            <a:off x="1524000" y="47244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Use deep or hybrid models when they match the evidence, improve a baseline, and survive deployment-shaped tests.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67DC2E-05C4-4F0C-995E-00FFA92DC047}"/>
              </a:ext>
            </a:extLst>
          </p:cNvPr>
          <p:cNvSpPr>
            <a:spLocks noGrp="1"/>
          </p:cNvSpPr>
          <p:nvPr/>
        </p:nvSpPr>
        <p:spPr>
          <a:xfrm>
            <a:off x="8858250" y="2247900"/>
            <a:ext cx="2476500" cy="2628900"/>
          </a:xfrm>
          <a:prstGeom prst="roundRect">
            <a:avLst>
              <a:gd name="adj" fmla="val 3077"/>
            </a:avLst>
          </a:prstGeom>
          <a:solidFill>
            <a:srgbClr val="FBF7F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E17090-AEE0-4575-B687-F6521F52D31E}"/>
              </a:ext>
            </a:extLst>
          </p:cNvPr>
          <p:cNvSpPr>
            <a:spLocks noGrp="1"/>
          </p:cNvSpPr>
          <p:nvPr/>
        </p:nvSpPr>
        <p:spPr>
          <a:xfrm>
            <a:off x="9124950" y="2514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C4D1BF-A2AD-48FD-A71B-0F01E4F6C839}"/>
              </a:ext>
            </a:extLst>
          </p:cNvPr>
          <p:cNvSpPr>
            <a:spLocks noGrp="1"/>
          </p:cNvSpPr>
          <p:nvPr/>
        </p:nvSpPr>
        <p:spPr>
          <a:xfrm>
            <a:off x="9105900" y="297180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Tsimpidi et al.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 Survey on Data-Driven Models for Soil Moisture Regression and Classification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arXiv:2606.18316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DC584-34AA-48D5-A52A-D38886DBB200}"/>
              </a:ext>
            </a:extLst>
          </p:cNvPr>
          <p:cNvSpPr>
            <a:spLocks noGrp="1"/>
          </p:cNvSpPr>
          <p:nvPr/>
        </p:nvSpPr>
        <p:spPr>
          <a:xfrm>
            <a:off x="8991600" y="45148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Paper PDF: arxiv.org/pdf/2606.18316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73996-B02C-44EA-8A08-B88CB7F25A04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Before trusting a score: check the target, split, units, and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4866197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2265</Words>
  <Application>Microsoft Office PowerPoint</Application>
  <DocSecurity>0</DocSecurity>
  <PresentationFormat>Widescreen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Navya I</cp:lastModifiedBy>
  <cp:revision>2</cp:revision>
  <dcterms:created xsi:type="dcterms:W3CDTF">2026-10-07T06:37:17Z</dcterms:created>
  <dcterms:modified xsi:type="dcterms:W3CDTF">2026-10-11T06:05:26Z</dcterms:modified>
</cp:coreProperties>
</file>